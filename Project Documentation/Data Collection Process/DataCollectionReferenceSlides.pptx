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3" r:id="rId4"/>
    <p:sldId id="285" r:id="rId5"/>
    <p:sldId id="283" r:id="rId6"/>
    <p:sldId id="291" r:id="rId7"/>
    <p:sldId id="292" r:id="rId8"/>
    <p:sldId id="305" r:id="rId9"/>
    <p:sldId id="306" r:id="rId10"/>
    <p:sldId id="290" r:id="rId11"/>
    <p:sldId id="307" r:id="rId12"/>
    <p:sldId id="308" r:id="rId13"/>
    <p:sldId id="309" r:id="rId14"/>
    <p:sldId id="275" r:id="rId15"/>
    <p:sldId id="301" r:id="rId16"/>
    <p:sldId id="303" r:id="rId17"/>
    <p:sldId id="300" r:id="rId18"/>
    <p:sldId id="293" r:id="rId19"/>
    <p:sldId id="295" r:id="rId20"/>
    <p:sldId id="294" r:id="rId21"/>
    <p:sldId id="296" r:id="rId22"/>
    <p:sldId id="298" r:id="rId23"/>
    <p:sldId id="299" r:id="rId24"/>
    <p:sldId id="302" r:id="rId25"/>
    <p:sldId id="276" r:id="rId26"/>
    <p:sldId id="277" r:id="rId27"/>
    <p:sldId id="310" r:id="rId28"/>
    <p:sldId id="311" r:id="rId29"/>
    <p:sldId id="312" r:id="rId30"/>
    <p:sldId id="279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690"/>
  </p:normalViewPr>
  <p:slideViewPr>
    <p:cSldViewPr snapToGrid="0">
      <p:cViewPr varScale="1">
        <p:scale>
          <a:sx n="119" d="100"/>
          <a:sy n="119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F9B6B-A706-4F62-EA66-77FD76B4D8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1037340"/>
            <a:ext cx="8361229" cy="2098226"/>
          </a:xfrm>
        </p:spPr>
        <p:txBody>
          <a:bodyPr/>
          <a:lstStyle/>
          <a:p>
            <a:r>
              <a:rPr lang="en-US" sz="4800" dirty="0"/>
              <a:t>Collecting Newspaper Endorsements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2233D9-AC9D-A14B-307F-F20EE5FE1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162" y="3115649"/>
            <a:ext cx="6831673" cy="2098226"/>
          </a:xfrm>
        </p:spPr>
        <p:txBody>
          <a:bodyPr>
            <a:normAutofit/>
          </a:bodyPr>
          <a:lstStyle/>
          <a:p>
            <a:r>
              <a:rPr lang="en-US" dirty="0"/>
              <a:t>Reference Slides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Prof. Kevin DeLuca</a:t>
            </a:r>
          </a:p>
          <a:p>
            <a:r>
              <a:rPr lang="en-US" dirty="0"/>
              <a:t>02/14/2025</a:t>
            </a:r>
          </a:p>
        </p:txBody>
      </p:sp>
    </p:spTree>
    <p:extLst>
      <p:ext uri="{BB962C8B-B14F-4D97-AF65-F5344CB8AC3E}">
        <p14:creationId xmlns:p14="http://schemas.microsoft.com/office/powerpoint/2010/main" val="1301640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6162D-E879-5082-7409-3ECCFE841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1F099-42D1-1D26-A35C-5AA297D99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07028"/>
            <a:ext cx="9601200" cy="4365172"/>
          </a:xfrm>
        </p:spPr>
        <p:txBody>
          <a:bodyPr/>
          <a:lstStyle/>
          <a:p>
            <a:r>
              <a:rPr lang="en-US" sz="2400" dirty="0"/>
              <a:t>Project description and purpose</a:t>
            </a:r>
          </a:p>
          <a:p>
            <a:r>
              <a:rPr lang="en-US" sz="2400" dirty="0"/>
              <a:t>Process</a:t>
            </a:r>
          </a:p>
          <a:p>
            <a:pPr lvl="1"/>
            <a:r>
              <a:rPr lang="en-US" sz="2400" dirty="0"/>
              <a:t>Finding Endorsements + Clippings</a:t>
            </a:r>
          </a:p>
          <a:p>
            <a:pPr lvl="1"/>
            <a:r>
              <a:rPr lang="en-US" sz="2400" dirty="0"/>
              <a:t>Recording Endorsements</a:t>
            </a:r>
          </a:p>
          <a:p>
            <a:pPr lvl="1"/>
            <a:r>
              <a:rPr lang="en-US" sz="2400" dirty="0"/>
              <a:t>Quality Assurance</a:t>
            </a:r>
          </a:p>
          <a:p>
            <a:r>
              <a:rPr lang="en-US" sz="2400" dirty="0"/>
              <a:t>Example: Los Angeles Times</a:t>
            </a:r>
          </a:p>
          <a:p>
            <a:r>
              <a:rPr lang="en-US" sz="2400" dirty="0"/>
              <a:t>Q&amp;A</a:t>
            </a:r>
          </a:p>
          <a:p>
            <a:r>
              <a:rPr lang="en-US" sz="2400" dirty="0"/>
              <a:t>Bonus slides if time: chat GPT endorsement collector (in development)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067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829A1-43C8-B996-322F-8D12A7459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BB84-5326-A78E-8ABA-70EFB703F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Description and Purpose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597D88A-A560-E7F7-41F4-C8EF1E043A51}"/>
              </a:ext>
            </a:extLst>
          </p:cNvPr>
          <p:cNvSpPr txBox="1">
            <a:spLocks/>
          </p:cNvSpPr>
          <p:nvPr/>
        </p:nvSpPr>
        <p:spPr>
          <a:xfrm>
            <a:off x="1371600" y="1523999"/>
            <a:ext cx="9601200" cy="4833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An historical collection of local newspaper endorsements</a:t>
            </a:r>
          </a:p>
          <a:p>
            <a:pPr lvl="1"/>
            <a:r>
              <a:rPr lang="en-US" sz="2400" dirty="0"/>
              <a:t>Searching through newspaper archives, find clippings of endorsements made by local newspapers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163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05A06-103A-DAA6-2674-2FCD0F74F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EFC18-F0CE-6CF3-42FB-175F215E7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Description and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93BDB-5B96-7874-1A9E-EFA6D47C5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3999"/>
            <a:ext cx="9601200" cy="4833258"/>
          </a:xfrm>
        </p:spPr>
        <p:txBody>
          <a:bodyPr>
            <a:normAutofit/>
          </a:bodyPr>
          <a:lstStyle/>
          <a:p>
            <a:r>
              <a:rPr lang="en-US" sz="2400" dirty="0"/>
              <a:t>An historical collection of local newspaper endorsements</a:t>
            </a:r>
          </a:p>
          <a:p>
            <a:pPr lvl="1"/>
            <a:r>
              <a:rPr lang="en-US" sz="2400" dirty="0"/>
              <a:t>Searching through newspaper archives, find clippings of endorsements made by local newspapers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  <p:pic>
        <p:nvPicPr>
          <p:cNvPr id="5" name="Picture 4" descr="A close-up of a newspaper&#10;&#10;AI-generated content may be incorrect.">
            <a:extLst>
              <a:ext uri="{FF2B5EF4-FFF2-40B4-BE49-F238E27FC236}">
                <a16:creationId xmlns:a16="http://schemas.microsoft.com/office/drawing/2014/main" id="{BD12DDD3-2ED5-F744-1539-129145D0D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109" y="2812586"/>
            <a:ext cx="6616147" cy="35446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1B22CB-AF73-7507-5A1B-591EAD56BED7}"/>
              </a:ext>
            </a:extLst>
          </p:cNvPr>
          <p:cNvSpPr txBox="1"/>
          <p:nvPr/>
        </p:nvSpPr>
        <p:spPr>
          <a:xfrm>
            <a:off x="3907895" y="6357257"/>
            <a:ext cx="5140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Dayton Journal Herald (Ohio), 1968 Endorsements</a:t>
            </a:r>
          </a:p>
        </p:txBody>
      </p:sp>
    </p:spTree>
    <p:extLst>
      <p:ext uri="{BB962C8B-B14F-4D97-AF65-F5344CB8AC3E}">
        <p14:creationId xmlns:p14="http://schemas.microsoft.com/office/powerpoint/2010/main" val="1874192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34640-D503-F2BC-E48A-3024F7D9F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CBF8B-62EF-6B56-D863-BFE6B45A5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Description and Purpose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8171672-4A5F-BE61-B957-CC059D672AB6}"/>
              </a:ext>
            </a:extLst>
          </p:cNvPr>
          <p:cNvSpPr txBox="1">
            <a:spLocks/>
          </p:cNvSpPr>
          <p:nvPr/>
        </p:nvSpPr>
        <p:spPr>
          <a:xfrm>
            <a:off x="1371600" y="1523999"/>
            <a:ext cx="9601200" cy="4833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An historical collection of local newspaper endorsements</a:t>
            </a:r>
          </a:p>
          <a:p>
            <a:pPr lvl="1"/>
            <a:r>
              <a:rPr lang="en-US" sz="2400" dirty="0"/>
              <a:t>Searching through newspaper archives, find clippings of endorsements made by local newspapers</a:t>
            </a:r>
          </a:p>
          <a:p>
            <a:pPr lvl="1"/>
            <a:r>
              <a:rPr lang="en-US" sz="2400" dirty="0"/>
              <a:t>Is (was) a common practice in the US, and the US has (had) many newspapers – lots of data to collect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65852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0FD58-DAF1-62B1-F1F9-12DB1C21D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6D7E-CB66-7FD7-16D2-BA1D40E38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Description and Purpose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AD0283A-5517-7F8C-2AA7-807B55C993A0}"/>
              </a:ext>
            </a:extLst>
          </p:cNvPr>
          <p:cNvSpPr txBox="1">
            <a:spLocks/>
          </p:cNvSpPr>
          <p:nvPr/>
        </p:nvSpPr>
        <p:spPr>
          <a:xfrm>
            <a:off x="1371600" y="1523999"/>
            <a:ext cx="9601200" cy="4833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An historical collection of local newspaper endorsements</a:t>
            </a:r>
          </a:p>
          <a:p>
            <a:pPr lvl="1"/>
            <a:r>
              <a:rPr lang="en-US" sz="2400" dirty="0"/>
              <a:t>Searching through newspaper archives, find clippings of endorsements made by local newspapers</a:t>
            </a:r>
          </a:p>
          <a:p>
            <a:pPr lvl="1"/>
            <a:r>
              <a:rPr lang="en-US" sz="2400" dirty="0"/>
              <a:t>Is (was) a common practice in the US, and the US has (had) many newspapers – lots of data to collect</a:t>
            </a:r>
          </a:p>
          <a:p>
            <a:pPr lvl="1"/>
            <a:r>
              <a:rPr lang="en-US" sz="2400" dirty="0"/>
              <a:t>Useful for political science, economics, and social science research more broadly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9428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149C6-C187-F7C5-7DA4-905A0956F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BB5A2-DEA4-9240-E40D-C4AF193DA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Description and Purpose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4BA79A-6027-33D7-6CB0-011235B96FC1}"/>
              </a:ext>
            </a:extLst>
          </p:cNvPr>
          <p:cNvSpPr txBox="1">
            <a:spLocks/>
          </p:cNvSpPr>
          <p:nvPr/>
        </p:nvSpPr>
        <p:spPr>
          <a:xfrm>
            <a:off x="1371600" y="1523999"/>
            <a:ext cx="9601200" cy="4833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An historical collection of local newspaper endorsements</a:t>
            </a:r>
          </a:p>
          <a:p>
            <a:pPr lvl="1"/>
            <a:r>
              <a:rPr lang="en-US" sz="2400" dirty="0"/>
              <a:t>Searching through newspaper archives, find clippings of endorsements made by local newspapers</a:t>
            </a:r>
          </a:p>
          <a:p>
            <a:pPr lvl="1"/>
            <a:r>
              <a:rPr lang="en-US" sz="2400" dirty="0"/>
              <a:t>Is (was) a common practice in the US, and the US has (had) many newspapers – lots of data to collect</a:t>
            </a:r>
          </a:p>
          <a:p>
            <a:pPr lvl="1"/>
            <a:r>
              <a:rPr lang="en-US" sz="2400" dirty="0"/>
              <a:t>Useful for political science, economics, and social science research more broadly</a:t>
            </a:r>
          </a:p>
          <a:p>
            <a:pPr lvl="1"/>
            <a:r>
              <a:rPr lang="en-US" sz="2400" dirty="0"/>
              <a:t>Currently, I have about ~60,000 candidate endorsements from hundreds of local newspapers, focused on 1960-2006 period</a:t>
            </a:r>
          </a:p>
          <a:p>
            <a:pPr lvl="2"/>
            <a:r>
              <a:rPr lang="en-US" sz="2200" dirty="0"/>
              <a:t>This is actually maybe only about 1/4</a:t>
            </a:r>
            <a:r>
              <a:rPr lang="en-US" sz="2200" baseline="30000" dirty="0"/>
              <a:t>th</a:t>
            </a:r>
            <a:r>
              <a:rPr lang="en-US" sz="2200" dirty="0"/>
              <a:t> of endorsements out there, based on my estimates</a:t>
            </a:r>
          </a:p>
          <a:p>
            <a:pPr lvl="2"/>
            <a:r>
              <a:rPr lang="en-US" sz="2200" dirty="0"/>
              <a:t>Need to catalog and archive these endorsements, so others can use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06782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5826D-350B-A3A9-A37F-1FCF8D74E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75B38-BCA4-F866-6C6E-EEEE2E7B3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57" y="293915"/>
            <a:ext cx="9601200" cy="1485900"/>
          </a:xfrm>
        </p:spPr>
        <p:txBody>
          <a:bodyPr/>
          <a:lstStyle/>
          <a:p>
            <a:r>
              <a:rPr lang="en-US" dirty="0"/>
              <a:t>Project Description and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9CDEA-CEBA-BA67-7C0B-2F284A928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1132114"/>
            <a:ext cx="10624457" cy="5638800"/>
          </a:xfrm>
        </p:spPr>
        <p:txBody>
          <a:bodyPr>
            <a:normAutofit/>
          </a:bodyPr>
          <a:lstStyle/>
          <a:p>
            <a:r>
              <a:rPr lang="en-US" sz="2800" dirty="0"/>
              <a:t>What’s the point?</a:t>
            </a:r>
          </a:p>
          <a:p>
            <a:pPr lvl="1"/>
            <a:r>
              <a:rPr lang="en-US" sz="2400" dirty="0"/>
              <a:t>Endorsements contain two important bits of information</a:t>
            </a:r>
          </a:p>
          <a:p>
            <a:pPr lvl="2"/>
            <a:r>
              <a:rPr lang="en-US" sz="2000" dirty="0"/>
              <a:t>1. What is the partisan bias or preference of the newspaper (editors)?</a:t>
            </a:r>
          </a:p>
          <a:p>
            <a:pPr lvl="3"/>
            <a:r>
              <a:rPr lang="en-US" sz="2000" dirty="0"/>
              <a:t>Relative number of Dem vs Rep endorsements</a:t>
            </a:r>
          </a:p>
        </p:txBody>
      </p:sp>
    </p:spTree>
    <p:extLst>
      <p:ext uri="{BB962C8B-B14F-4D97-AF65-F5344CB8AC3E}">
        <p14:creationId xmlns:p14="http://schemas.microsoft.com/office/powerpoint/2010/main" val="915440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DF98A-C351-6242-217E-8050B7AC0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5FAC8-5565-9001-295D-005452C4C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57" y="293915"/>
            <a:ext cx="9601200" cy="1485900"/>
          </a:xfrm>
        </p:spPr>
        <p:txBody>
          <a:bodyPr/>
          <a:lstStyle/>
          <a:p>
            <a:r>
              <a:rPr lang="en-US" dirty="0"/>
              <a:t>Project Description and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12FC7-29D4-FC73-FE23-0BBD2941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1132114"/>
            <a:ext cx="10624457" cy="5638800"/>
          </a:xfrm>
        </p:spPr>
        <p:txBody>
          <a:bodyPr>
            <a:normAutofit/>
          </a:bodyPr>
          <a:lstStyle/>
          <a:p>
            <a:r>
              <a:rPr lang="en-US" sz="2800" dirty="0"/>
              <a:t>What’s the point?</a:t>
            </a:r>
          </a:p>
          <a:p>
            <a:pPr lvl="1"/>
            <a:r>
              <a:rPr lang="en-US" sz="2400" dirty="0"/>
              <a:t>Endorsements contain two important bits of information</a:t>
            </a:r>
          </a:p>
          <a:p>
            <a:pPr lvl="2"/>
            <a:r>
              <a:rPr lang="en-US" sz="2000" dirty="0"/>
              <a:t>1. What is the partisan bias or preference of the newspaper (editors)?</a:t>
            </a:r>
          </a:p>
          <a:p>
            <a:pPr lvl="3"/>
            <a:r>
              <a:rPr lang="en-US" sz="2000" dirty="0"/>
              <a:t>Relative number of Dem vs Rep endorsements</a:t>
            </a:r>
          </a:p>
          <a:p>
            <a:pPr lvl="2"/>
            <a:r>
              <a:rPr lang="en-US" sz="2000" dirty="0"/>
              <a:t>2. Which candidates are “high quality”?</a:t>
            </a:r>
          </a:p>
          <a:p>
            <a:pPr lvl="3"/>
            <a:r>
              <a:rPr lang="en-US" sz="2000" dirty="0"/>
              <a:t>At a basic level, what candidates get endorsed more? (taking into account the partisan bias of the newspapers making endorsements)</a:t>
            </a:r>
          </a:p>
        </p:txBody>
      </p:sp>
    </p:spTree>
    <p:extLst>
      <p:ext uri="{BB962C8B-B14F-4D97-AF65-F5344CB8AC3E}">
        <p14:creationId xmlns:p14="http://schemas.microsoft.com/office/powerpoint/2010/main" val="2305473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FA31B-3906-3447-5F62-4AAA39B61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716F4-406C-3144-A093-7E5E9F4F1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285" y="435428"/>
            <a:ext cx="10341429" cy="4898572"/>
          </a:xfrm>
        </p:spPr>
        <p:txBody>
          <a:bodyPr>
            <a:normAutofit/>
          </a:bodyPr>
          <a:lstStyle/>
          <a:p>
            <a:r>
              <a:rPr lang="en-US" sz="2400" dirty="0"/>
              <a:t>Example: Texas 2022 Endorsements</a:t>
            </a:r>
            <a:endParaRPr lang="en-US" dirty="0"/>
          </a:p>
        </p:txBody>
      </p:sp>
      <p:pic>
        <p:nvPicPr>
          <p:cNvPr id="4" name="Picture 3" descr="A table with names and numbers&#10;&#10;Description automatically generated">
            <a:extLst>
              <a:ext uri="{FF2B5EF4-FFF2-40B4-BE49-F238E27FC236}">
                <a16:creationId xmlns:a16="http://schemas.microsoft.com/office/drawing/2014/main" id="{A410A1A8-A137-D89B-AA34-1502A2AD8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424" y="1067054"/>
            <a:ext cx="8103151" cy="516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82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887DD-223A-1850-9230-ABE7728B7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3446B-8988-8E8A-633C-D2B0E1D82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57" y="293915"/>
            <a:ext cx="9601200" cy="1485900"/>
          </a:xfrm>
        </p:spPr>
        <p:txBody>
          <a:bodyPr/>
          <a:lstStyle/>
          <a:p>
            <a:r>
              <a:rPr lang="en-US" dirty="0"/>
              <a:t>Project Description and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1FAAC-33DA-659C-0BB3-FF27CED88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1132114"/>
            <a:ext cx="10624457" cy="5638800"/>
          </a:xfrm>
        </p:spPr>
        <p:txBody>
          <a:bodyPr>
            <a:normAutofit/>
          </a:bodyPr>
          <a:lstStyle/>
          <a:p>
            <a:r>
              <a:rPr lang="en-US" sz="2800" dirty="0"/>
              <a:t>What’s the point?</a:t>
            </a:r>
          </a:p>
          <a:p>
            <a:pPr lvl="1"/>
            <a:r>
              <a:rPr lang="en-US" sz="2400" dirty="0"/>
              <a:t>Endorsements contain two important bits of information</a:t>
            </a:r>
          </a:p>
          <a:p>
            <a:pPr lvl="2"/>
            <a:r>
              <a:rPr lang="en-US" sz="2000" dirty="0"/>
              <a:t>1. What is the partisan bias or preference of the newspaper (editors)?</a:t>
            </a:r>
          </a:p>
          <a:p>
            <a:pPr lvl="3"/>
            <a:r>
              <a:rPr lang="en-US" sz="2000" dirty="0"/>
              <a:t>Relative number of Dem vs Rep endorsements</a:t>
            </a:r>
          </a:p>
          <a:p>
            <a:pPr lvl="2"/>
            <a:r>
              <a:rPr lang="en-US" sz="2000" dirty="0"/>
              <a:t>2. Which candidates are “high quality”?</a:t>
            </a:r>
          </a:p>
          <a:p>
            <a:pPr lvl="3"/>
            <a:r>
              <a:rPr lang="en-US" sz="2000" dirty="0"/>
              <a:t>At a basic level, what candidates get endorsed more? (taking into account the partisan bias of the newspapers making endorsements)</a:t>
            </a:r>
          </a:p>
          <a:p>
            <a:pPr lvl="1"/>
            <a:r>
              <a:rPr lang="en-US" sz="2400" dirty="0"/>
              <a:t>Measuring hard-to-measure stuff</a:t>
            </a:r>
          </a:p>
          <a:p>
            <a:pPr lvl="2"/>
            <a:r>
              <a:rPr lang="en-US" sz="2000" dirty="0"/>
              <a:t>Can construct measures of how partisan or biased newspapers are/were, to look at effect of media bias on elections, voter behavior, politics</a:t>
            </a:r>
          </a:p>
        </p:txBody>
      </p:sp>
    </p:spTree>
    <p:extLst>
      <p:ext uri="{BB962C8B-B14F-4D97-AF65-F5344CB8AC3E}">
        <p14:creationId xmlns:p14="http://schemas.microsoft.com/office/powerpoint/2010/main" val="3427329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2769-96C5-28C6-3B33-73AC61698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37F00-53ED-9AD0-C2A8-3203542A6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57" y="293915"/>
            <a:ext cx="9601200" cy="1485900"/>
          </a:xfrm>
        </p:spPr>
        <p:txBody>
          <a:bodyPr/>
          <a:lstStyle/>
          <a:p>
            <a:r>
              <a:rPr lang="en-US" dirty="0"/>
              <a:t>Project Description and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B7946-C1D4-0ECA-4232-C8082C70B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1132114"/>
            <a:ext cx="10624457" cy="5638800"/>
          </a:xfrm>
        </p:spPr>
        <p:txBody>
          <a:bodyPr>
            <a:normAutofit/>
          </a:bodyPr>
          <a:lstStyle/>
          <a:p>
            <a:r>
              <a:rPr lang="en-US" sz="2800" dirty="0"/>
              <a:t>What’s the point?</a:t>
            </a:r>
          </a:p>
          <a:p>
            <a:pPr lvl="1"/>
            <a:r>
              <a:rPr lang="en-US" sz="2400" dirty="0"/>
              <a:t>Endorsements contain two important bits of information</a:t>
            </a:r>
          </a:p>
          <a:p>
            <a:pPr lvl="2"/>
            <a:r>
              <a:rPr lang="en-US" sz="2000" dirty="0"/>
              <a:t>1. What is the partisan bias or preference of the newspaper (editors)?</a:t>
            </a:r>
          </a:p>
          <a:p>
            <a:pPr lvl="3"/>
            <a:r>
              <a:rPr lang="en-US" sz="2000" dirty="0"/>
              <a:t>Relative number of Dem vs Rep endorsements</a:t>
            </a:r>
          </a:p>
          <a:p>
            <a:pPr lvl="2"/>
            <a:r>
              <a:rPr lang="en-US" sz="2000" dirty="0"/>
              <a:t>2. Which candidates are “high quality”?</a:t>
            </a:r>
          </a:p>
          <a:p>
            <a:pPr lvl="3"/>
            <a:r>
              <a:rPr lang="en-US" sz="2000" dirty="0"/>
              <a:t>At a basic level, what candidates get endorsed more? (taking into account the partisan bias of the newspapers making endorsements)</a:t>
            </a:r>
          </a:p>
          <a:p>
            <a:pPr lvl="1"/>
            <a:r>
              <a:rPr lang="en-US" sz="2400" dirty="0"/>
              <a:t>Measuring hard-to-measure stuff</a:t>
            </a:r>
          </a:p>
          <a:p>
            <a:pPr lvl="2"/>
            <a:r>
              <a:rPr lang="en-US" sz="2000" dirty="0"/>
              <a:t>Can construct measures of how partisan or biased newspapers are/were, to look at effect of media bias on elections, voter behavior, politics</a:t>
            </a:r>
          </a:p>
          <a:p>
            <a:pPr lvl="2"/>
            <a:r>
              <a:rPr lang="en-US" sz="2000" dirty="0"/>
              <a:t>Can construct a measure of candidate quality, to better understand how much quality matters to voters (relative to partisanship), and how the importance of candidate quality has changed over time (as polarization increases)</a:t>
            </a:r>
          </a:p>
        </p:txBody>
      </p:sp>
    </p:spTree>
    <p:extLst>
      <p:ext uri="{BB962C8B-B14F-4D97-AF65-F5344CB8AC3E}">
        <p14:creationId xmlns:p14="http://schemas.microsoft.com/office/powerpoint/2010/main" val="3474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AE98D-4471-9B67-040A-AD4D60D2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972B5-929B-FF39-97EF-0CAE6925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57" y="293915"/>
            <a:ext cx="9601200" cy="1485900"/>
          </a:xfrm>
        </p:spPr>
        <p:txBody>
          <a:bodyPr/>
          <a:lstStyle/>
          <a:p>
            <a:r>
              <a:rPr lang="en-US" dirty="0"/>
              <a:t>Project Description and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21F66-63DC-5EF9-0E76-B72AA1517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1132114"/>
            <a:ext cx="10624457" cy="5638800"/>
          </a:xfrm>
        </p:spPr>
        <p:txBody>
          <a:bodyPr>
            <a:normAutofit/>
          </a:bodyPr>
          <a:lstStyle/>
          <a:p>
            <a:r>
              <a:rPr lang="en-US" sz="2800" dirty="0"/>
              <a:t>What’s the point?</a:t>
            </a:r>
          </a:p>
          <a:p>
            <a:pPr lvl="1"/>
            <a:r>
              <a:rPr lang="en-US" sz="2400" dirty="0"/>
              <a:t>Endorsements contain two important bits of information</a:t>
            </a:r>
          </a:p>
          <a:p>
            <a:pPr lvl="2"/>
            <a:r>
              <a:rPr lang="en-US" sz="2000" dirty="0"/>
              <a:t>1. What is the partisan bias or preference of the newspaper (editors)?</a:t>
            </a:r>
          </a:p>
          <a:p>
            <a:pPr lvl="3"/>
            <a:r>
              <a:rPr lang="en-US" sz="2000" dirty="0"/>
              <a:t>Relative number of Dem vs Rep endorsements</a:t>
            </a:r>
          </a:p>
          <a:p>
            <a:pPr lvl="2"/>
            <a:r>
              <a:rPr lang="en-US" sz="2000" dirty="0"/>
              <a:t>2. Which candidates are “high quality”?</a:t>
            </a:r>
          </a:p>
          <a:p>
            <a:pPr lvl="3"/>
            <a:r>
              <a:rPr lang="en-US" sz="2000" dirty="0"/>
              <a:t>At a basic level, what candidates get endorsed more? (taking into account the partisan bias of the newspapers making endorsements)</a:t>
            </a:r>
          </a:p>
          <a:p>
            <a:pPr lvl="1"/>
            <a:r>
              <a:rPr lang="en-US" sz="2400" dirty="0"/>
              <a:t>Measuring hard-to-measure stuff</a:t>
            </a:r>
          </a:p>
          <a:p>
            <a:pPr lvl="2"/>
            <a:r>
              <a:rPr lang="en-US" sz="2000" dirty="0"/>
              <a:t>Can construct measures of how partisan or biased newspapers are/were, to look at effect of media bias on elections, voter behavior, politics</a:t>
            </a:r>
          </a:p>
          <a:p>
            <a:pPr lvl="2"/>
            <a:r>
              <a:rPr lang="en-US" sz="2000" dirty="0"/>
              <a:t>Can construct a measure of candidate quality, to better understand how much quality matters to voters (relative to partisanship), and how the importance of candidate quality has changed over time (as polarization increases)</a:t>
            </a:r>
          </a:p>
          <a:p>
            <a:pPr lvl="1"/>
            <a:r>
              <a:rPr lang="en-US" sz="2400" dirty="0"/>
              <a:t>In order to create these measures, need lots and lots of newspaper endorsements</a:t>
            </a:r>
          </a:p>
        </p:txBody>
      </p:sp>
    </p:spTree>
    <p:extLst>
      <p:ext uri="{BB962C8B-B14F-4D97-AF65-F5344CB8AC3E}">
        <p14:creationId xmlns:p14="http://schemas.microsoft.com/office/powerpoint/2010/main" val="2198613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17C48-EC97-48CD-B8F4-2D39728A1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C7C39-0B92-176D-B531-531016D4F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– Collecting Endorsements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13BAD-E001-F812-B7FA-DFC9880A9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8750"/>
            <a:ext cx="9601200" cy="4365172"/>
          </a:xfrm>
        </p:spPr>
        <p:txBody>
          <a:bodyPr/>
          <a:lstStyle/>
          <a:p>
            <a:r>
              <a:rPr lang="en-US" sz="2400" dirty="0"/>
              <a:t>To collect endorsements and catalog them in the archive, we are following a detailed process</a:t>
            </a:r>
          </a:p>
          <a:p>
            <a:pPr lvl="1"/>
            <a:r>
              <a:rPr lang="en-US" sz="2400" dirty="0"/>
              <a:t>Need to find the clippings, in archives (online)</a:t>
            </a:r>
          </a:p>
          <a:p>
            <a:pPr lvl="1"/>
            <a:r>
              <a:rPr lang="en-US" sz="2400" dirty="0"/>
              <a:t>Need to record the endorsements, with specific variables</a:t>
            </a:r>
          </a:p>
          <a:p>
            <a:pPr lvl="1"/>
            <a:r>
              <a:rPr lang="en-US" sz="2400" dirty="0"/>
              <a:t>Need to log metadata about the paper and collection</a:t>
            </a:r>
          </a:p>
          <a:p>
            <a:pPr lvl="1"/>
            <a:r>
              <a:rPr lang="en-US" sz="2400" dirty="0"/>
              <a:t>Need to do “quality assurance”, to double check data</a:t>
            </a:r>
          </a:p>
          <a:p>
            <a:pPr lvl="1"/>
            <a:r>
              <a:rPr lang="en-US" sz="2400" dirty="0"/>
              <a:t>Need to upload to archive</a:t>
            </a:r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302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E3746-CA1B-F301-C4FC-5AE28F86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4B31E-C86E-1225-29B6-B23540075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– Collecting Endorsements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FE242-E91D-12D8-7948-A565323E0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8750"/>
            <a:ext cx="9601200" cy="5211536"/>
          </a:xfrm>
        </p:spPr>
        <p:txBody>
          <a:bodyPr>
            <a:normAutofit/>
          </a:bodyPr>
          <a:lstStyle/>
          <a:p>
            <a:r>
              <a:rPr lang="en-US" sz="2400" dirty="0"/>
              <a:t>To collect endorsements and catalog them in the archive, we are following a detailed process</a:t>
            </a:r>
          </a:p>
          <a:p>
            <a:pPr lvl="1"/>
            <a:r>
              <a:rPr lang="en-US" sz="2400" b="1" dirty="0"/>
              <a:t>Need to find the clippings, in archives (online)</a:t>
            </a:r>
          </a:p>
          <a:p>
            <a:pPr lvl="1"/>
            <a:r>
              <a:rPr lang="en-US" sz="2400" b="1" dirty="0"/>
              <a:t>Need to record the endorsements, with specific variables</a:t>
            </a:r>
          </a:p>
          <a:p>
            <a:pPr lvl="1"/>
            <a:r>
              <a:rPr lang="en-US" sz="2400" b="1" dirty="0"/>
              <a:t>Need to log metadata about the paper and collection</a:t>
            </a:r>
          </a:p>
          <a:p>
            <a:pPr lvl="1"/>
            <a:r>
              <a:rPr lang="en-US" sz="2400" dirty="0"/>
              <a:t>Need to do “quality assurance”, to double check data</a:t>
            </a:r>
          </a:p>
          <a:p>
            <a:pPr lvl="1"/>
            <a:r>
              <a:rPr lang="en-US" sz="2400" dirty="0"/>
              <a:t>Need to upload to archive</a:t>
            </a:r>
          </a:p>
          <a:p>
            <a:r>
              <a:rPr lang="en-US" sz="2400" dirty="0"/>
              <a:t>Ultimately, you are going to create a folder for each newspaper, with all of the clippings saved and the endorsements recorded on spreadsheets</a:t>
            </a:r>
          </a:p>
          <a:p>
            <a:pPr lvl="1"/>
            <a:r>
              <a:rPr lang="en-US" sz="2400" dirty="0"/>
              <a:t> Time period: 1900ish-present</a:t>
            </a:r>
          </a:p>
          <a:p>
            <a:pPr lvl="1"/>
            <a:endParaRPr lang="en-US" sz="2400" dirty="0"/>
          </a:p>
          <a:p>
            <a:endParaRPr lang="en-US" sz="2400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27CEC8-2FD7-17F0-6E69-08311205C3D4}"/>
              </a:ext>
            </a:extLst>
          </p:cNvPr>
          <p:cNvSpPr txBox="1"/>
          <p:nvPr/>
        </p:nvSpPr>
        <p:spPr>
          <a:xfrm>
            <a:off x="10526486" y="2438399"/>
            <a:ext cx="1140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Data </a:t>
            </a:r>
          </a:p>
          <a:p>
            <a:pPr algn="ctr"/>
            <a:r>
              <a:rPr lang="en-US" dirty="0"/>
              <a:t>Collection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0FD54-CC03-06F9-EF8F-0F7B942DFBA2}"/>
              </a:ext>
            </a:extLst>
          </p:cNvPr>
          <p:cNvSpPr txBox="1"/>
          <p:nvPr/>
        </p:nvSpPr>
        <p:spPr>
          <a:xfrm>
            <a:off x="10491123" y="3790931"/>
            <a:ext cx="1210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“QA” Team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03C349-3FFA-0C08-0E16-2249BCA53984}"/>
              </a:ext>
            </a:extLst>
          </p:cNvPr>
          <p:cNvCxnSpPr/>
          <p:nvPr/>
        </p:nvCxnSpPr>
        <p:spPr>
          <a:xfrm>
            <a:off x="10111409" y="2332383"/>
            <a:ext cx="98510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249250-5440-0FDD-6BDE-3935E55054A2}"/>
              </a:ext>
            </a:extLst>
          </p:cNvPr>
          <p:cNvCxnSpPr/>
          <p:nvPr/>
        </p:nvCxnSpPr>
        <p:spPr>
          <a:xfrm>
            <a:off x="10100184" y="3319670"/>
            <a:ext cx="98510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CC56B4-B4D2-B911-DBDF-903E733ADA7D}"/>
              </a:ext>
            </a:extLst>
          </p:cNvPr>
          <p:cNvCxnSpPr/>
          <p:nvPr/>
        </p:nvCxnSpPr>
        <p:spPr>
          <a:xfrm>
            <a:off x="10084905" y="3684105"/>
            <a:ext cx="98510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5CE071-231E-5B33-64C6-04C2AC5E0A7A}"/>
              </a:ext>
            </a:extLst>
          </p:cNvPr>
          <p:cNvCxnSpPr/>
          <p:nvPr/>
        </p:nvCxnSpPr>
        <p:spPr>
          <a:xfrm>
            <a:off x="10084905" y="4260575"/>
            <a:ext cx="98510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48BFD5-FC6C-A6D3-45BC-121233560E5E}"/>
              </a:ext>
            </a:extLst>
          </p:cNvPr>
          <p:cNvCxnSpPr>
            <a:endCxn id="4" idx="0"/>
          </p:cNvCxnSpPr>
          <p:nvPr/>
        </p:nvCxnSpPr>
        <p:spPr>
          <a:xfrm>
            <a:off x="11096513" y="2332383"/>
            <a:ext cx="1" cy="1060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0C44A44-5268-1369-534E-BB6697B39929}"/>
              </a:ext>
            </a:extLst>
          </p:cNvPr>
          <p:cNvCxnSpPr>
            <a:endCxn id="4" idx="2"/>
          </p:cNvCxnSpPr>
          <p:nvPr/>
        </p:nvCxnSpPr>
        <p:spPr>
          <a:xfrm flipV="1">
            <a:off x="11096513" y="3084730"/>
            <a:ext cx="1" cy="2349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622C4C1-E3A2-7CF0-2328-718D4FDF9F9B}"/>
              </a:ext>
            </a:extLst>
          </p:cNvPr>
          <p:cNvCxnSpPr>
            <a:cxnSpLocks/>
          </p:cNvCxnSpPr>
          <p:nvPr/>
        </p:nvCxnSpPr>
        <p:spPr>
          <a:xfrm flipV="1">
            <a:off x="11078896" y="3684105"/>
            <a:ext cx="0" cy="1885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72820D-C4A4-2565-E6CC-4D2B61C230AE}"/>
              </a:ext>
            </a:extLst>
          </p:cNvPr>
          <p:cNvCxnSpPr>
            <a:cxnSpLocks/>
          </p:cNvCxnSpPr>
          <p:nvPr/>
        </p:nvCxnSpPr>
        <p:spPr>
          <a:xfrm flipV="1">
            <a:off x="11072271" y="4075044"/>
            <a:ext cx="0" cy="1885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672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CA15F-0EE3-A25E-BB4E-83043A199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5796F-D8C7-CE42-F9BC-36D13758F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– Collecting Endorsements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973E1-A55F-0F8F-5D23-A4EC4996B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428750"/>
            <a:ext cx="9601200" cy="5211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You finished folder should look like this:</a:t>
            </a:r>
          </a:p>
          <a:p>
            <a:r>
              <a:rPr lang="en-US" sz="2400" dirty="0"/>
              <a:t>Clippings sub folder</a:t>
            </a:r>
          </a:p>
          <a:p>
            <a:pPr lvl="1"/>
            <a:r>
              <a:rPr lang="en-US" sz="2400" dirty="0"/>
              <a:t>Article clippings</a:t>
            </a:r>
          </a:p>
          <a:p>
            <a:r>
              <a:rPr lang="en-US" sz="2400" dirty="0"/>
              <a:t>Text/rtf metadata</a:t>
            </a:r>
          </a:p>
          <a:p>
            <a:r>
              <a:rPr lang="en-US" sz="2400" dirty="0"/>
              <a:t>Candidate spreadsheet</a:t>
            </a:r>
          </a:p>
          <a:p>
            <a:r>
              <a:rPr lang="en-US" sz="2400" dirty="0"/>
              <a:t>Propositions spreadsheet</a:t>
            </a:r>
          </a:p>
          <a:p>
            <a:pPr lvl="1"/>
            <a:endParaRPr lang="en-US" sz="2400" dirty="0"/>
          </a:p>
          <a:p>
            <a:endParaRPr lang="en-US" sz="2400" dirty="0"/>
          </a:p>
          <a:p>
            <a:pPr lvl="1"/>
            <a:endParaRPr lang="en-US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AEDDE3-9F0F-ADC3-BB7E-607ACC22B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085" y="1975757"/>
            <a:ext cx="7012243" cy="446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483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DC62B-3606-4D86-1547-800F48E08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4F3C3-6408-6A39-8E32-5BD6AF23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– Finding Endorsements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1A49-52B9-9228-AE3E-671800A63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8750"/>
            <a:ext cx="9601200" cy="4365172"/>
          </a:xfrm>
        </p:spPr>
        <p:txBody>
          <a:bodyPr/>
          <a:lstStyle/>
          <a:p>
            <a:r>
              <a:rPr lang="en-US" sz="2400" dirty="0"/>
              <a:t>Mostly, we’ll be using </a:t>
            </a:r>
            <a:r>
              <a:rPr lang="en-US" sz="2400" dirty="0" err="1"/>
              <a:t>newspapers.com</a:t>
            </a:r>
            <a:r>
              <a:rPr lang="en-US" sz="2400" dirty="0"/>
              <a:t>, which is an online historical archive where you can view scanned images of newspapers</a:t>
            </a:r>
          </a:p>
          <a:p>
            <a:endParaRPr lang="en-US" sz="2400" dirty="0"/>
          </a:p>
          <a:p>
            <a:pPr lvl="1"/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A6E40E-35B0-BE37-69C5-649CFB5C0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657" y="2267942"/>
            <a:ext cx="9750185" cy="436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263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D7260-A53C-1CA9-8E61-75E0B589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89A2C-A788-4DF5-4ABA-AC568B7F8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– Finding Endorsements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9421F-E40D-B4C2-BD09-6A11E3081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8750"/>
            <a:ext cx="9601200" cy="4876801"/>
          </a:xfrm>
        </p:spPr>
        <p:txBody>
          <a:bodyPr>
            <a:normAutofit/>
          </a:bodyPr>
          <a:lstStyle/>
          <a:p>
            <a:r>
              <a:rPr lang="en-US" sz="2400" dirty="0"/>
              <a:t>Steps for collecting endorsements</a:t>
            </a:r>
          </a:p>
          <a:p>
            <a:pPr lvl="1"/>
            <a:r>
              <a:rPr lang="en-US" sz="2400" dirty="0"/>
              <a:t>1. Find the paper, and go to election day on the year you’re trying to collect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822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E9D54-ADA5-D513-15D5-B333B0DBA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31635-4AA3-A285-F582-C78134984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– Finding Endorsements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E3822-7A2C-1AC4-52A0-5413A4AE4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8750"/>
            <a:ext cx="9601200" cy="4876801"/>
          </a:xfrm>
        </p:spPr>
        <p:txBody>
          <a:bodyPr>
            <a:normAutofit/>
          </a:bodyPr>
          <a:lstStyle/>
          <a:p>
            <a:r>
              <a:rPr lang="en-US" sz="2400" dirty="0"/>
              <a:t>Steps for collecting endorsements</a:t>
            </a:r>
          </a:p>
          <a:p>
            <a:pPr lvl="1"/>
            <a:r>
              <a:rPr lang="en-US" sz="2400" dirty="0"/>
              <a:t>1. Find the paper, and go to election day on the year you’re trying to collect</a:t>
            </a:r>
          </a:p>
          <a:p>
            <a:pPr lvl="1"/>
            <a:r>
              <a:rPr lang="en-US" sz="2400" dirty="0"/>
              <a:t>2. Look for the editorial page: has the masthead and usually publisher and owner information: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dirty="0"/>
          </a:p>
        </p:txBody>
      </p:sp>
      <p:pic>
        <p:nvPicPr>
          <p:cNvPr id="5" name="Picture 4" descr="A newspaper with a newspaper with text&#10;&#10;AI-generated content may be incorrect.">
            <a:extLst>
              <a:ext uri="{FF2B5EF4-FFF2-40B4-BE49-F238E27FC236}">
                <a16:creationId xmlns:a16="http://schemas.microsoft.com/office/drawing/2014/main" id="{CDEF9D30-091A-BA9E-EDEF-121ABB1C8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816" y="3429000"/>
            <a:ext cx="5800498" cy="328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87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DAFAE-8421-0AE8-8541-1D576E3A8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4282C-54FF-0D79-F74F-D732E5ADF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– Finding Endorsements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3F6F4-26FA-B661-FCB5-24F2FAA06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2" y="1426025"/>
            <a:ext cx="9601200" cy="4876801"/>
          </a:xfrm>
        </p:spPr>
        <p:txBody>
          <a:bodyPr>
            <a:normAutofit/>
          </a:bodyPr>
          <a:lstStyle/>
          <a:p>
            <a:r>
              <a:rPr lang="en-US" sz="2400" dirty="0"/>
              <a:t>Steps for collecting endorsements</a:t>
            </a:r>
          </a:p>
          <a:p>
            <a:pPr lvl="1"/>
            <a:r>
              <a:rPr lang="en-US" sz="2400" dirty="0"/>
              <a:t>1. Find the paper, and go to election day on the year you’re trying to collect</a:t>
            </a:r>
          </a:p>
          <a:p>
            <a:pPr lvl="1"/>
            <a:r>
              <a:rPr lang="en-US" sz="2400" dirty="0"/>
              <a:t>2. Look for the editorial page: has the masthead and usually publisher and owner information:</a:t>
            </a:r>
          </a:p>
          <a:p>
            <a:pPr lvl="1"/>
            <a:r>
              <a:rPr lang="en-US" sz="2400" dirty="0"/>
              <a:t>3. Look for endorsement lists or articles, and then create a “clipping” of the article to save to </a:t>
            </a:r>
            <a:r>
              <a:rPr lang="en-US" sz="2400" dirty="0" err="1"/>
              <a:t>newspapers.com</a:t>
            </a:r>
            <a:r>
              <a:rPr lang="en-US" sz="2400" dirty="0"/>
              <a:t> and in our archive</a:t>
            </a:r>
          </a:p>
          <a:p>
            <a:pPr lvl="2"/>
            <a:r>
              <a:rPr lang="en-US" sz="2200" dirty="0"/>
              <a:t>If you don’t find endorsements on election day, check the editorial page for up to 10 days before the election, looking for endorsement lists or articles</a:t>
            </a:r>
          </a:p>
          <a:p>
            <a:pPr lvl="3"/>
            <a:r>
              <a:rPr lang="en-US" sz="2200" dirty="0"/>
              <a:t>Not uncommon for endorsements to be run the day before or the Sunday before election day, rather than day-of</a:t>
            </a:r>
          </a:p>
        </p:txBody>
      </p:sp>
    </p:spTree>
    <p:extLst>
      <p:ext uri="{BB962C8B-B14F-4D97-AF65-F5344CB8AC3E}">
        <p14:creationId xmlns:p14="http://schemas.microsoft.com/office/powerpoint/2010/main" val="4068049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3777F-212F-E2E0-B3FE-BFB53598B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6201E-B57D-9127-0A5E-A03B7F2FD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– Clipping Endorsements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DAA41-CF05-04E8-848A-60FB2EA0A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07027"/>
            <a:ext cx="9601200" cy="4876801"/>
          </a:xfrm>
        </p:spPr>
        <p:txBody>
          <a:bodyPr>
            <a:normAutofit/>
          </a:bodyPr>
          <a:lstStyle/>
          <a:p>
            <a:r>
              <a:rPr lang="en-US" sz="2400" dirty="0"/>
              <a:t>When you find an endorsement, you need to “clip” it using </a:t>
            </a:r>
            <a:r>
              <a:rPr lang="en-US" sz="2400" dirty="0" err="1"/>
              <a:t>newspapers.com</a:t>
            </a:r>
            <a:r>
              <a:rPr lang="en-US" sz="2400" dirty="0"/>
              <a:t> – top right corner!</a:t>
            </a:r>
          </a:p>
          <a:p>
            <a:endParaRPr lang="en-US" sz="2400" dirty="0"/>
          </a:p>
        </p:txBody>
      </p:sp>
      <p:pic>
        <p:nvPicPr>
          <p:cNvPr id="5" name="Picture 4" descr="A newspaper with text and a pen&#10;&#10;AI-generated content may be incorrect.">
            <a:extLst>
              <a:ext uri="{FF2B5EF4-FFF2-40B4-BE49-F238E27FC236}">
                <a16:creationId xmlns:a16="http://schemas.microsoft.com/office/drawing/2014/main" id="{ED2104FC-655E-F387-5CEE-4B4120E85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795126"/>
            <a:ext cx="7772400" cy="351465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A4FE58-DBD7-8287-6C60-D36E5D3C6B5F}"/>
              </a:ext>
            </a:extLst>
          </p:cNvPr>
          <p:cNvCxnSpPr/>
          <p:nvPr/>
        </p:nvCxnSpPr>
        <p:spPr>
          <a:xfrm>
            <a:off x="8153400" y="2394857"/>
            <a:ext cx="0" cy="4002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D02BB6-C3B8-676A-A829-2B1A74B0ABDD}"/>
              </a:ext>
            </a:extLst>
          </p:cNvPr>
          <p:cNvCxnSpPr/>
          <p:nvPr/>
        </p:nvCxnSpPr>
        <p:spPr>
          <a:xfrm flipV="1">
            <a:off x="7424057" y="3135086"/>
            <a:ext cx="642257" cy="5116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018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82323-340F-7D44-5333-DA4C83896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F0854-8510-63DD-70E3-24B4CEC72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– Clipping Endorsements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33032-6BE3-52B3-461F-B1A3E1A4D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07027"/>
            <a:ext cx="3592282" cy="4876801"/>
          </a:xfrm>
        </p:spPr>
        <p:txBody>
          <a:bodyPr>
            <a:normAutofit/>
          </a:bodyPr>
          <a:lstStyle/>
          <a:p>
            <a:r>
              <a:rPr lang="en-US" sz="2400" dirty="0"/>
              <a:t>Select the whole endorsement in the clipping (include masthead if possible), then save to account</a:t>
            </a:r>
          </a:p>
          <a:p>
            <a:endParaRPr lang="en-US" sz="2400" dirty="0"/>
          </a:p>
        </p:txBody>
      </p:sp>
      <p:pic>
        <p:nvPicPr>
          <p:cNvPr id="6" name="Picture 5" descr="A screenshot of a newspaper&#10;&#10;AI-generated content may be incorrect.">
            <a:extLst>
              <a:ext uri="{FF2B5EF4-FFF2-40B4-BE49-F238E27FC236}">
                <a16:creationId xmlns:a16="http://schemas.microsoft.com/office/drawing/2014/main" id="{A19E4AC3-B6AB-09BC-2740-8B187E510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882" y="1576287"/>
            <a:ext cx="5490743" cy="510754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118E96-192E-BA09-8763-EBA9B2EB9453}"/>
              </a:ext>
            </a:extLst>
          </p:cNvPr>
          <p:cNvCxnSpPr/>
          <p:nvPr/>
        </p:nvCxnSpPr>
        <p:spPr>
          <a:xfrm>
            <a:off x="6803571" y="6283559"/>
            <a:ext cx="0" cy="4002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6E81B97-6AE8-F13E-F55C-B54CDF2EAA8A}"/>
              </a:ext>
            </a:extLst>
          </p:cNvPr>
          <p:cNvCxnSpPr>
            <a:cxnSpLocks/>
          </p:cNvCxnSpPr>
          <p:nvPr/>
        </p:nvCxnSpPr>
        <p:spPr>
          <a:xfrm>
            <a:off x="7709253" y="4245427"/>
            <a:ext cx="92856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912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2DE03-0215-8FDE-4337-AD73D363C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B9CF-83FA-CB8B-9F16-33E306186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– Clipping Endorsements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68BE880-C718-9B1B-EC7B-117AFFBD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07027"/>
            <a:ext cx="3592282" cy="4876801"/>
          </a:xfrm>
        </p:spPr>
        <p:txBody>
          <a:bodyPr>
            <a:normAutofit/>
          </a:bodyPr>
          <a:lstStyle/>
          <a:p>
            <a:r>
              <a:rPr lang="en-US" sz="2400" dirty="0"/>
              <a:t>Select the whole endorsement in the clipping (include masthead if possible), then save to account</a:t>
            </a:r>
          </a:p>
          <a:p>
            <a:r>
              <a:rPr lang="en-US" sz="2400" dirty="0"/>
              <a:t>Name the clipping something informative: I use “Newspaper Name Year Specific Endorsements”</a:t>
            </a:r>
          </a:p>
          <a:p>
            <a:endParaRPr lang="en-US" sz="240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53A005-8726-28AD-7CF6-7C9AE6277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647" y="1428750"/>
            <a:ext cx="5721388" cy="505097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75B9D78-0C10-9BD6-87AA-A52CE3A33613}"/>
              </a:ext>
            </a:extLst>
          </p:cNvPr>
          <p:cNvCxnSpPr>
            <a:cxnSpLocks/>
          </p:cNvCxnSpPr>
          <p:nvPr/>
        </p:nvCxnSpPr>
        <p:spPr>
          <a:xfrm>
            <a:off x="9710057" y="5540829"/>
            <a:ext cx="713015" cy="5007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7F8F44-870E-9BC6-889B-95CBB14726B3}"/>
              </a:ext>
            </a:extLst>
          </p:cNvPr>
          <p:cNvCxnSpPr/>
          <p:nvPr/>
        </p:nvCxnSpPr>
        <p:spPr>
          <a:xfrm>
            <a:off x="8196943" y="2919873"/>
            <a:ext cx="0" cy="4002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082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E621F-C22C-83ED-F389-C9798CB97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C47CC4-BE1A-6326-81EB-772037397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609" y="1455473"/>
            <a:ext cx="4205917" cy="5263379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Select the whole endorsement in the clipping (include masthead if possible), then save to account</a:t>
            </a:r>
          </a:p>
          <a:p>
            <a:r>
              <a:rPr lang="en-US" sz="2400" dirty="0"/>
              <a:t>Name the clipping something informative: I use “Newspaper Name Year Specific Endorsements”</a:t>
            </a:r>
          </a:p>
          <a:p>
            <a:r>
              <a:rPr lang="en-US" sz="2400" dirty="0"/>
              <a:t>Last, download the PDF of the clipping, and save to newspaper “clipping” folder</a:t>
            </a:r>
          </a:p>
          <a:p>
            <a:pPr lvl="1"/>
            <a:r>
              <a:rPr lang="en-US" sz="2400" dirty="0"/>
              <a:t>See handbook for </a:t>
            </a:r>
            <a:r>
              <a:rPr lang="en-US" sz="2400" dirty="0" err="1"/>
              <a:t>filenaming</a:t>
            </a:r>
            <a:r>
              <a:rPr lang="en-US" sz="2400" dirty="0"/>
              <a:t> conventions</a:t>
            </a:r>
          </a:p>
          <a:p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FD46C2-5175-B650-751D-93ABD082A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– Clipping Endorsements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42E7CD-8BA6-04AE-55EC-A207E47D8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024" y="1748273"/>
            <a:ext cx="5555766" cy="453822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2F3D94C-FAE1-7DD0-98B1-53E8E6AEC71A}"/>
              </a:ext>
            </a:extLst>
          </p:cNvPr>
          <p:cNvCxnSpPr/>
          <p:nvPr/>
        </p:nvCxnSpPr>
        <p:spPr>
          <a:xfrm>
            <a:off x="8175171" y="1428750"/>
            <a:ext cx="0" cy="4002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0A9648-B7E5-3E53-810D-CED3AD6E5230}"/>
              </a:ext>
            </a:extLst>
          </p:cNvPr>
          <p:cNvCxnSpPr/>
          <p:nvPr/>
        </p:nvCxnSpPr>
        <p:spPr>
          <a:xfrm flipV="1">
            <a:off x="9539933" y="3761572"/>
            <a:ext cx="642257" cy="5116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515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1B8C-EFA8-2309-02E9-59B2E1684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E9B5-F501-0277-02E1-8D77A1B92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– Recording Endorsements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784E-6DA5-A2BF-6B53-A38BA76EF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8750"/>
            <a:ext cx="9601200" cy="4365172"/>
          </a:xfrm>
        </p:spPr>
        <p:txBody>
          <a:bodyPr/>
          <a:lstStyle/>
          <a:p>
            <a:r>
              <a:rPr lang="en-US" sz="2400" dirty="0"/>
              <a:t>Once you have found endorsements, they need to be typed up</a:t>
            </a:r>
          </a:p>
          <a:p>
            <a:r>
              <a:rPr lang="en-US" sz="2400" dirty="0"/>
              <a:t>Candidate endorsements and propositions recorded separately</a:t>
            </a:r>
          </a:p>
          <a:p>
            <a:pPr lvl="1"/>
            <a:r>
              <a:rPr lang="en-US" sz="2400" dirty="0"/>
              <a:t>Handbook has all the specific variables that need to be recorded for each type of endorsement, and how they should be recorded</a:t>
            </a:r>
          </a:p>
          <a:p>
            <a:pPr lvl="1"/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69ED3F-44BF-E25B-47B9-4A702D271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406" y="3312965"/>
            <a:ext cx="9251394" cy="308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73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58BD8-98E8-9457-2804-DBDC1F3C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180FE-28EA-D926-B1AC-FBD6CCBBD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93915"/>
            <a:ext cx="9601200" cy="1485900"/>
          </a:xfrm>
        </p:spPr>
        <p:txBody>
          <a:bodyPr/>
          <a:lstStyle/>
          <a:p>
            <a:r>
              <a:rPr lang="en-US" dirty="0"/>
              <a:t>Process – Quality Assurance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BF76F-6910-9576-97E9-B9C3CA64F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399" y="1167495"/>
            <a:ext cx="9699171" cy="5222419"/>
          </a:xfrm>
        </p:spPr>
        <p:txBody>
          <a:bodyPr>
            <a:normAutofit/>
          </a:bodyPr>
          <a:lstStyle/>
          <a:p>
            <a:r>
              <a:rPr lang="en-US" sz="2400" dirty="0"/>
              <a:t>After you have finished data collection, hand off your folder to the Quality Assurance (QA) Team</a:t>
            </a:r>
          </a:p>
          <a:p>
            <a:pPr lvl="2"/>
            <a:endParaRPr lang="en-US" sz="22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971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25E5E-EE2F-C430-9276-93C9F83C9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6A0C0-5F48-5369-E8D6-EE70B53FA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93915"/>
            <a:ext cx="9601200" cy="1485900"/>
          </a:xfrm>
        </p:spPr>
        <p:txBody>
          <a:bodyPr/>
          <a:lstStyle/>
          <a:p>
            <a:r>
              <a:rPr lang="en-US" dirty="0"/>
              <a:t>Process – Quality Assurance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05B02-7165-1AC5-D81F-602DE5AA0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399" y="1167495"/>
            <a:ext cx="9699171" cy="5222419"/>
          </a:xfrm>
        </p:spPr>
        <p:txBody>
          <a:bodyPr>
            <a:normAutofit/>
          </a:bodyPr>
          <a:lstStyle/>
          <a:p>
            <a:r>
              <a:rPr lang="en-US" sz="2400" dirty="0"/>
              <a:t>After you have finished data collection, hand off your folder to the Quality Assurance (QA) Team</a:t>
            </a:r>
          </a:p>
          <a:p>
            <a:r>
              <a:rPr lang="en-US" sz="2400" dirty="0"/>
              <a:t>QA Team has instructions to double check over everything</a:t>
            </a:r>
          </a:p>
          <a:p>
            <a:pPr lvl="1"/>
            <a:r>
              <a:rPr lang="en-US" sz="2400" dirty="0"/>
              <a:t>If there are issues, like you forgot to type up a year of endorsements, or some of the variables are recorded incorrectly, then the QA Team will ‘send’ the folder back to you to fix</a:t>
            </a:r>
          </a:p>
          <a:p>
            <a:pPr lvl="1"/>
            <a:r>
              <a:rPr lang="en-US" sz="2400" dirty="0"/>
              <a:t>Once fixed, QA Team will re-check data</a:t>
            </a:r>
          </a:p>
          <a:p>
            <a:pPr lvl="1"/>
            <a:r>
              <a:rPr lang="en-US" sz="2400" dirty="0"/>
              <a:t>May go back and forth once or twice (or more), that’s sort of expected, so don’t feel bad if it happens – will get better as you get used to the process</a:t>
            </a:r>
          </a:p>
          <a:p>
            <a:pPr lvl="2"/>
            <a:endParaRPr lang="en-US" sz="22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6931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8A297-6F24-8159-6B7E-AFEEDEA72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621E3-967F-3D59-91DC-B07893625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93915"/>
            <a:ext cx="9601200" cy="1485900"/>
          </a:xfrm>
        </p:spPr>
        <p:txBody>
          <a:bodyPr/>
          <a:lstStyle/>
          <a:p>
            <a:r>
              <a:rPr lang="en-US" dirty="0"/>
              <a:t>Process – Quality Assurance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A800D-F67B-B5D5-8668-3F457A1CE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399" y="1167495"/>
            <a:ext cx="9699171" cy="5222419"/>
          </a:xfrm>
        </p:spPr>
        <p:txBody>
          <a:bodyPr>
            <a:normAutofit/>
          </a:bodyPr>
          <a:lstStyle/>
          <a:p>
            <a:r>
              <a:rPr lang="en-US" sz="2400" dirty="0"/>
              <a:t>After you have finished data collection, hand off your folder to the Quality Assurance (QA) Team</a:t>
            </a:r>
          </a:p>
          <a:p>
            <a:r>
              <a:rPr lang="en-US" sz="2400" dirty="0"/>
              <a:t>QA Team has instructions to double check over everything</a:t>
            </a:r>
          </a:p>
          <a:p>
            <a:pPr lvl="1"/>
            <a:r>
              <a:rPr lang="en-US" sz="2400" dirty="0"/>
              <a:t>If there are issues, like you forgot to type up a year of endorsements, or some of the variables are recorded incorrectly, then the QA Team will ‘send’ the folder back to you to fix</a:t>
            </a:r>
          </a:p>
          <a:p>
            <a:pPr lvl="1"/>
            <a:r>
              <a:rPr lang="en-US" sz="2400" dirty="0"/>
              <a:t>Once fixed, QA Team will re-check data</a:t>
            </a:r>
          </a:p>
          <a:p>
            <a:pPr lvl="1"/>
            <a:r>
              <a:rPr lang="en-US" sz="2400" dirty="0"/>
              <a:t>May go back and forth once or twice (or more), that’s sort of expected, so don’t feel bad if it happens – will get better as you get used to the process</a:t>
            </a:r>
          </a:p>
          <a:p>
            <a:r>
              <a:rPr lang="en-US" sz="2200" dirty="0"/>
              <a:t>Once everything has been collected and QA-ed, the data is ready to upload to our online </a:t>
            </a:r>
            <a:r>
              <a:rPr lang="en-US" sz="2200" dirty="0" err="1"/>
              <a:t>github</a:t>
            </a:r>
            <a:r>
              <a:rPr lang="en-US" sz="2200" dirty="0"/>
              <a:t> archive</a:t>
            </a:r>
          </a:p>
          <a:p>
            <a:pPr lvl="2"/>
            <a:endParaRPr lang="en-US" sz="22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7144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84FD0-4114-97E2-873B-3DE766B62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19AD3-6E2B-3ADA-86F8-884753A2D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93915"/>
            <a:ext cx="9601200" cy="1485900"/>
          </a:xfrm>
        </p:spPr>
        <p:txBody>
          <a:bodyPr/>
          <a:lstStyle/>
          <a:p>
            <a:r>
              <a:rPr lang="en-US" dirty="0"/>
              <a:t>Process – Quality Assurance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71C760-08D9-DAFC-B274-73633AC0E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9" y="1175732"/>
            <a:ext cx="10363251" cy="511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231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35D7F-A85A-325E-5EA0-338D9BD6F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AADB3-8194-ED36-C517-6406B8565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526486" cy="1485900"/>
          </a:xfrm>
        </p:spPr>
        <p:txBody>
          <a:bodyPr/>
          <a:lstStyle/>
          <a:p>
            <a:r>
              <a:rPr lang="en-US" dirty="0"/>
              <a:t>Example: Los Angeles 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6E442-740F-8030-D02B-D8F328F97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07028"/>
            <a:ext cx="9601200" cy="4365172"/>
          </a:xfrm>
        </p:spPr>
        <p:txBody>
          <a:bodyPr/>
          <a:lstStyle/>
          <a:p>
            <a:r>
              <a:rPr lang="en-US" sz="2400" dirty="0"/>
              <a:t>Let’s find an endorsement page together</a:t>
            </a:r>
          </a:p>
          <a:p>
            <a:pPr lvl="1"/>
            <a:r>
              <a:rPr lang="en-US" sz="2400" dirty="0"/>
              <a:t>1920, 1932, 1974; on </a:t>
            </a:r>
            <a:r>
              <a:rPr lang="en-US" sz="2400" dirty="0" err="1"/>
              <a:t>newspapers.com</a:t>
            </a:r>
            <a:endParaRPr lang="en-US" sz="2400" dirty="0"/>
          </a:p>
          <a:p>
            <a:r>
              <a:rPr lang="en-US" sz="2400" dirty="0"/>
              <a:t>Clipping and saving the endorsement</a:t>
            </a:r>
          </a:p>
          <a:p>
            <a:r>
              <a:rPr lang="en-US" sz="2400" dirty="0"/>
              <a:t>Recording the endorsement(s)</a:t>
            </a:r>
          </a:p>
          <a:p>
            <a:r>
              <a:rPr lang="en-US" sz="2400" dirty="0"/>
              <a:t>Updating the metadata</a:t>
            </a:r>
          </a:p>
          <a:p>
            <a:r>
              <a:rPr lang="en-US" sz="2400" dirty="0"/>
              <a:t>Using the handbook to help with all of this</a:t>
            </a:r>
          </a:p>
          <a:p>
            <a:endParaRPr lang="en-US" sz="24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44541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2514</TotalTime>
  <Words>1741</Words>
  <Application>Microsoft Macintosh PowerPoint</Application>
  <PresentationFormat>Widescreen</PresentationFormat>
  <Paragraphs>174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Franklin Gothic Book</vt:lpstr>
      <vt:lpstr>Crop</vt:lpstr>
      <vt:lpstr>Collecting Newspaper Endorsements</vt:lpstr>
      <vt:lpstr>Overview</vt:lpstr>
      <vt:lpstr>Project Description and Purpose</vt:lpstr>
      <vt:lpstr>Project Description and Purpose</vt:lpstr>
      <vt:lpstr>Project Description and Purpose</vt:lpstr>
      <vt:lpstr>Project Description and Purpose</vt:lpstr>
      <vt:lpstr>Project Description and Purpose</vt:lpstr>
      <vt:lpstr>Project Description and Purpose</vt:lpstr>
      <vt:lpstr>Project Description and Purpose</vt:lpstr>
      <vt:lpstr>PowerPoint Presentation</vt:lpstr>
      <vt:lpstr>Project Description and Purpose</vt:lpstr>
      <vt:lpstr>Project Description and Purpose</vt:lpstr>
      <vt:lpstr>Project Description and Purpose</vt:lpstr>
      <vt:lpstr>Process – Collecting Endorsements</vt:lpstr>
      <vt:lpstr>Process – Collecting Endorsements</vt:lpstr>
      <vt:lpstr>Process – Collecting Endorsements</vt:lpstr>
      <vt:lpstr>Process – Finding Endorsements</vt:lpstr>
      <vt:lpstr>Process – Finding Endorsements</vt:lpstr>
      <vt:lpstr>Process – Finding Endorsements</vt:lpstr>
      <vt:lpstr>Process – Finding Endorsements</vt:lpstr>
      <vt:lpstr>Process – Clipping Endorsements</vt:lpstr>
      <vt:lpstr>Process – Clipping Endorsements</vt:lpstr>
      <vt:lpstr>Process – Clipping Endorsements</vt:lpstr>
      <vt:lpstr>Process – Clipping Endorsements</vt:lpstr>
      <vt:lpstr>Process – Recording Endorsements</vt:lpstr>
      <vt:lpstr>Process – Quality Assurance</vt:lpstr>
      <vt:lpstr>Process – Quality Assurance</vt:lpstr>
      <vt:lpstr>Process – Quality Assurance</vt:lpstr>
      <vt:lpstr>Process – Quality Assurance</vt:lpstr>
      <vt:lpstr>Example: Los Angeles Times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D</dc:creator>
  <cp:lastModifiedBy>Kevin D</cp:lastModifiedBy>
  <cp:revision>43</cp:revision>
  <dcterms:created xsi:type="dcterms:W3CDTF">2025-02-07T10:27:05Z</dcterms:created>
  <dcterms:modified xsi:type="dcterms:W3CDTF">2026-02-24T03:37:23Z</dcterms:modified>
</cp:coreProperties>
</file>